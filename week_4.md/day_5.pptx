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547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34BCF6-5245-4CA2-B277-75F0B1D192EA}" type="datetimeFigureOut">
              <a:rPr lang="tr-TR" smtClean="0"/>
              <a:t>31.07.2026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38F5CF-2E19-4F93-A5CA-92E365FFAE9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90601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8F5CF-2E19-4F93-A5CA-92E365FFAE90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86579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9977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40568" y="2669827"/>
            <a:ext cx="6910863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F8FAFC"/>
                </a:solidFill>
                <a:latin typeface="Urbanist"/>
              </a:rPr>
              <a:t>ChatGPT'ye </a:t>
            </a:r>
            <a:r>
              <a:rPr sz="5400" b="1" i="0" u="none">
                <a:solidFill>
                  <a:srgbClr val="00E5FF"/>
                </a:solidFill>
                <a:latin typeface="Urbanist"/>
              </a:rPr>
              <a:t>Giden Yol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05112" y="3679477"/>
            <a:ext cx="658177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94A3B8"/>
                </a:solidFill>
                <a:latin typeface="Urbanist"/>
              </a:rPr>
              <a:t>2017-2022 Dönemindeki Kritik Sıçramalar, Maliyet Analizi ve Evrim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488FEF5C-0C92-F028-7C5D-00C1AD698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9135" y="1"/>
            <a:ext cx="412864" cy="4128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70446" y="2463254"/>
            <a:ext cx="8851106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F8FAFC"/>
                </a:solidFill>
                <a:latin typeface="Urbanist"/>
              </a:rPr>
              <a:t>2017-2022: </a:t>
            </a:r>
            <a:r>
              <a:rPr sz="5400" b="1" i="0" u="none">
                <a:solidFill>
                  <a:srgbClr val="00E5FF"/>
                </a:solidFill>
                <a:latin typeface="Urbanist"/>
              </a:rPr>
              <a:t>3 Kritik Sıçrama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63404"/>
            <a:ext cx="7620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94A3B8"/>
                </a:solidFill>
                <a:latin typeface="Urbanist"/>
              </a:rPr>
              <a:t>Yapay zekanın kaderini değiştiren ve günümüz LLM devrimini başlatan 5 yıllık serüven.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4971B138-703D-FFAC-0E8F-36170A99D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9135" y="1"/>
            <a:ext cx="412864" cy="4128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5550693" cy="1104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Urbanist"/>
              </a:rPr>
              <a:t>1. </a:t>
            </a:r>
            <a:r>
              <a:rPr sz="3600" b="1" i="0" u="none">
                <a:solidFill>
                  <a:srgbClr val="00E5FF"/>
                </a:solidFill>
                <a:latin typeface="Urbanist"/>
              </a:rPr>
              <a:t>Transformer</a:t>
            </a:r>
            <a:r>
              <a:rPr sz="3600" b="1" i="0" u="none">
                <a:solidFill>
                  <a:srgbClr val="F8FAFC"/>
                </a:solidFill>
                <a:latin typeface="Urbanist"/>
              </a:rPr>
              <a:t> Mimarisi (2017)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057400"/>
            <a:ext cx="555069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Urbanist"/>
              </a:rPr>
              <a:t>Attention Is All You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562225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Google araştırmacılarının yayımladığı bu ikonik makale, dönemin standartları olan ardışık işleme dayalı RNN ve LSTM mimarilerini tahtından etti.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705225"/>
            <a:ext cx="5286375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00E5FF"/>
                </a:solidFill>
                <a:latin typeface="Urbanist"/>
              </a:rPr>
              <a:t>Kendi </a:t>
            </a:r>
            <a:r>
              <a:rPr sz="1500" b="1" i="0" u="none" dirty="0" err="1">
                <a:solidFill>
                  <a:srgbClr val="00E5FF"/>
                </a:solidFill>
                <a:latin typeface="Urbanist"/>
              </a:rPr>
              <a:t>Kendine</a:t>
            </a:r>
            <a:r>
              <a:rPr sz="1500" b="1" i="0" u="none" dirty="0">
                <a:solidFill>
                  <a:srgbClr val="00E5FF"/>
                </a:solidFill>
                <a:latin typeface="Urbanist"/>
              </a:rPr>
              <a:t> </a:t>
            </a:r>
            <a:r>
              <a:rPr sz="1500" b="1" i="0" u="none" dirty="0" err="1">
                <a:solidFill>
                  <a:srgbClr val="00E5FF"/>
                </a:solidFill>
                <a:latin typeface="Urbanist"/>
              </a:rPr>
              <a:t>Dikkat</a:t>
            </a:r>
            <a:r>
              <a:rPr sz="1500" b="1" i="0" u="none" dirty="0">
                <a:solidFill>
                  <a:srgbClr val="00E5FF"/>
                </a:solidFill>
                <a:latin typeface="Urbanist"/>
              </a:rPr>
              <a:t> (Self-Attention)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mekanizması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sayesinde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tüm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cümlenin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tek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seferde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paralel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işlenmesine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olanak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tanındı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. Bu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gelişme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,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hesaplama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süresini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düşürürken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devasa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boyutlardaki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modellerin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eğitilebilmesinin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önünü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açan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en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kritik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adımdı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.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857F01B0-E7E1-C6BE-EC34-B0282DD34F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9135" y="1"/>
            <a:ext cx="412864" cy="4128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5550693" cy="1104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Urbanist"/>
              </a:rPr>
              <a:t>2. </a:t>
            </a:r>
            <a:r>
              <a:rPr sz="3600" b="1" i="0" u="none">
                <a:solidFill>
                  <a:srgbClr val="00E5FF"/>
                </a:solidFill>
                <a:latin typeface="Urbanist"/>
              </a:rPr>
              <a:t>Pre-training</a:t>
            </a:r>
            <a:r>
              <a:rPr sz="3600" b="1" i="0" u="none">
                <a:solidFill>
                  <a:srgbClr val="F8FAFC"/>
                </a:solidFill>
                <a:latin typeface="Urbanist"/>
              </a:rPr>
              <a:t> Dönemi (2018)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057400"/>
            <a:ext cx="555069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Urbanist"/>
              </a:rPr>
              <a:t>Üretken Ön Eğitim Devrimi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562225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OpenAI, GPT-1 (Generative Pre-trained Transformer) ile yapay zeka eğitim paradigmasını tamamen değiştirdi. Etiketli verilere olan bağımlılık ortadan kalktı.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705225"/>
            <a:ext cx="52863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Modelin, devasa boyutlardaki etiketsiz internet metinleriyle denetimsiz (unsupervised) olarak </a:t>
            </a:r>
            <a:r>
              <a:rPr sz="1500" b="1" i="0" u="none">
                <a:solidFill>
                  <a:srgbClr val="00E5FF"/>
                </a:solidFill>
                <a:latin typeface="Urbanist"/>
              </a:rPr>
              <a:t>ön eğitime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tabi tutulması ve ardından belirli görevler için </a:t>
            </a:r>
            <a:r>
              <a:rPr sz="1500" b="1" i="0" u="none">
                <a:solidFill>
                  <a:srgbClr val="00E5FF"/>
                </a:solidFill>
                <a:latin typeface="Urbanist"/>
              </a:rPr>
              <a:t>ince ayar (fine-tuning)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yapılması yaklaşımı tüm endüstri için bir standart haline geldi.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EB1D2349-7EB6-0CAB-4F00-EDE9E988A1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9135" y="1"/>
            <a:ext cx="412864" cy="4128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756699"/>
            <a:ext cx="5550693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 u="none" dirty="0">
                <a:solidFill>
                  <a:srgbClr val="F8FAFC"/>
                </a:solidFill>
                <a:latin typeface="Urbanist"/>
              </a:rPr>
              <a:t>3. </a:t>
            </a:r>
            <a:r>
              <a:rPr sz="3400" b="1" i="0" u="none" dirty="0">
                <a:solidFill>
                  <a:srgbClr val="00E5FF"/>
                </a:solidFill>
                <a:latin typeface="Urbanist"/>
              </a:rPr>
              <a:t>RLHF</a:t>
            </a:r>
            <a:r>
              <a:rPr sz="3400" b="1" i="0" u="none" dirty="0">
                <a:solidFill>
                  <a:srgbClr val="F8FAFC"/>
                </a:solidFill>
                <a:latin typeface="Urbanist"/>
              </a:rPr>
              <a:t> &amp; Dev </a:t>
            </a:r>
            <a:r>
              <a:rPr sz="3400" b="1" i="0" u="none" dirty="0" err="1">
                <a:solidFill>
                  <a:srgbClr val="F8FAFC"/>
                </a:solidFill>
                <a:latin typeface="Urbanist"/>
              </a:rPr>
              <a:t>Ölçek</a:t>
            </a:r>
            <a:r>
              <a:rPr sz="3400" b="1" i="0" u="none" dirty="0">
                <a:solidFill>
                  <a:srgbClr val="F8FAFC"/>
                </a:solidFill>
                <a:latin typeface="Urbanist"/>
              </a:rPr>
              <a:t> (2020-22)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057400"/>
            <a:ext cx="555069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Urbanist"/>
              </a:rPr>
              <a:t>İnsan Odaklı Hizalama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562225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Öncelikle GPT-3 ile 175 milyar parametrenin getirdiği üstün kapasite (Few-shot yeteneği) keşfedildi. Ancak model hala kontrol edilemezdi ve asıl devrim hizalamada yaşandı.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705225"/>
            <a:ext cx="52863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0E5FF"/>
                </a:solidFill>
                <a:latin typeface="Urbanist"/>
              </a:rPr>
              <a:t>İnsan Geri Bildirimli Takviyeli Öğrenme (RLHF)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tekniği kullanılarak InstructGPT ve ardından ChatGPT geliştirildi. Bu adım, modelin çıktılarını zararsız, yararlı ve insan diyalog yapısına tam uyumlu hale getirdi.</a:t>
            </a:r>
          </a:p>
        </p:txBody>
      </p:sp>
      <p:pic>
        <p:nvPicPr>
          <p:cNvPr id="12" name="Resim 11">
            <a:extLst>
              <a:ext uri="{FF2B5EF4-FFF2-40B4-BE49-F238E27FC236}">
                <a16:creationId xmlns:a16="http://schemas.microsoft.com/office/drawing/2014/main" id="{1EB5FD51-1743-C6DB-0469-0D6A75ED4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0"/>
            <a:ext cx="5857874" cy="6858000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846BF06F-E49B-9F25-F91F-135CC5DF7E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9135" y="1"/>
            <a:ext cx="412864" cy="4128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5352" y="2463254"/>
            <a:ext cx="10361295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F8FAFC"/>
                </a:solidFill>
                <a:latin typeface="Urbanist"/>
              </a:rPr>
              <a:t>Maliyet Analizi ve </a:t>
            </a:r>
            <a:r>
              <a:rPr sz="5400" b="1" i="0" u="none">
                <a:solidFill>
                  <a:srgbClr val="00E5FF"/>
                </a:solidFill>
                <a:latin typeface="Urbanist"/>
              </a:rPr>
              <a:t>Optimizasyon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63404"/>
            <a:ext cx="7620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94A3B8"/>
                </a:solidFill>
                <a:latin typeface="Urbanist"/>
              </a:rPr>
              <a:t>Geniş ölçekli uygulamalarda sürdürülebilirlik ve altyapı maliyetlerinin yönetimi.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319C517F-ACE8-614A-FC38-453AACB88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9135" y="1"/>
            <a:ext cx="412864" cy="4128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2" y="685799"/>
            <a:ext cx="5286375" cy="5915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3" y="681037"/>
            <a:ext cx="5286375" cy="5915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1179021"/>
            <a:ext cx="571500" cy="571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2007696"/>
            <a:ext cx="4730591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0E5FF"/>
                </a:solidFill>
                <a:latin typeface="Urbanist"/>
              </a:rPr>
              <a:t>Maliyet</a:t>
            </a:r>
            <a:r>
              <a:rPr sz="2400" b="1" i="0" u="none" dirty="0">
                <a:solidFill>
                  <a:srgbClr val="00E5FF"/>
                </a:solidFill>
                <a:latin typeface="Urbanist"/>
              </a:rPr>
              <a:t> (Inference) </a:t>
            </a:r>
            <a:r>
              <a:rPr sz="2400" b="1" i="0" u="none" dirty="0" err="1">
                <a:solidFill>
                  <a:srgbClr val="00E5FF"/>
                </a:solidFill>
                <a:latin typeface="Urbanist"/>
              </a:rPr>
              <a:t>Yükü</a:t>
            </a:r>
            <a:endParaRPr sz="2400" b="1" i="0" u="none" dirty="0">
              <a:solidFill>
                <a:srgbClr val="00E5FF"/>
              </a:solidFill>
              <a:latin typeface="Urbanis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62025" y="2469658"/>
            <a:ext cx="45053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7266" y="1174995"/>
            <a:ext cx="571500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54891" y="1972368"/>
            <a:ext cx="4730591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0E5FF"/>
                </a:solidFill>
                <a:latin typeface="Urbanist"/>
              </a:rPr>
              <a:t>Optimizasyon</a:t>
            </a:r>
            <a:r>
              <a:rPr sz="2400" b="1" i="0" u="none" dirty="0">
                <a:solidFill>
                  <a:srgbClr val="00E5FF"/>
                </a:solidFill>
                <a:latin typeface="Urbanist"/>
              </a:rPr>
              <a:t> </a:t>
            </a:r>
            <a:r>
              <a:rPr sz="2400" b="1" i="0" u="none" dirty="0" err="1">
                <a:solidFill>
                  <a:srgbClr val="00E5FF"/>
                </a:solidFill>
                <a:latin typeface="Urbanist"/>
              </a:rPr>
              <a:t>Önerileri</a:t>
            </a:r>
            <a:endParaRPr sz="2400" b="1" i="0" u="none" dirty="0">
              <a:solidFill>
                <a:srgbClr val="00E5FF"/>
              </a:solidFill>
              <a:latin typeface="Urbanis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747164" y="2464895"/>
            <a:ext cx="45053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4425" y="1314449"/>
            <a:ext cx="266700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47775" y="2773375"/>
            <a:ext cx="42195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 err="1">
                <a:solidFill>
                  <a:srgbClr val="F8FAFC"/>
                </a:solidFill>
                <a:latin typeface="Urbanist"/>
              </a:rPr>
              <a:t>İşlem</a:t>
            </a:r>
            <a:r>
              <a:rPr sz="1500" b="1" i="0" u="none" dirty="0">
                <a:solidFill>
                  <a:srgbClr val="F8FAFC"/>
                </a:solidFill>
                <a:latin typeface="Urbanist"/>
              </a:rPr>
              <a:t> </a:t>
            </a:r>
            <a:r>
              <a:rPr sz="1500" b="1" i="0" u="none" dirty="0" err="1">
                <a:solidFill>
                  <a:srgbClr val="F8FAFC"/>
                </a:solidFill>
                <a:latin typeface="Urbanist"/>
              </a:rPr>
              <a:t>Hacmi</a:t>
            </a:r>
            <a:r>
              <a:rPr sz="1500" b="1" i="0" u="none" dirty="0">
                <a:solidFill>
                  <a:srgbClr val="F8FAFC"/>
                </a:solidFill>
                <a:latin typeface="Urbanist"/>
              </a:rPr>
              <a:t>: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Günde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1M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istek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(Ort. 1000 token/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istek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) =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Günde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~1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Milyar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Token.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7775" y="3578972"/>
            <a:ext cx="42195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F8FAFC"/>
                </a:solidFill>
                <a:latin typeface="Urbanist"/>
              </a:rPr>
              <a:t>Bulut API </a:t>
            </a:r>
            <a:r>
              <a:rPr sz="1500" b="1" i="0" u="none" dirty="0" err="1">
                <a:solidFill>
                  <a:srgbClr val="F8FAFC"/>
                </a:solidFill>
                <a:latin typeface="Urbanist"/>
              </a:rPr>
              <a:t>Maliyeti</a:t>
            </a:r>
            <a:r>
              <a:rPr sz="1500" b="1" i="0" u="none" dirty="0">
                <a:solidFill>
                  <a:srgbClr val="F8FAFC"/>
                </a:solidFill>
                <a:latin typeface="Urbanist"/>
              </a:rPr>
              <a:t>: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Sektör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standardı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modeller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(GPT-3.5 vb.)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için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günlük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ortalama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$500 - $1.500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arası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fatura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7775" y="4689369"/>
            <a:ext cx="42195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F8FAFC"/>
                </a:solidFill>
                <a:latin typeface="Urbanist"/>
              </a:rPr>
              <a:t>Self-Hosted GPU: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LLaMA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70B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dengi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bir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model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için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8x A100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sunucu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kümesi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kiralamanın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günlük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operasyonel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maliyeti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yaklaşık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~$800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civarındadır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9666" y="1327395"/>
            <a:ext cx="266700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10400" y="2773116"/>
            <a:ext cx="42195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F8FAFC"/>
                </a:solidFill>
                <a:latin typeface="Urbanist"/>
              </a:rPr>
              <a:t>Semantic Caching: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Sık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sorulan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aynı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/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benzer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bağlamdaki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soruları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API'ye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ya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da GPU'ya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göndermeden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bellekten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yanıtlayarak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maliyeti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düşürme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400" y="3944000"/>
            <a:ext cx="42195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 err="1">
                <a:solidFill>
                  <a:srgbClr val="F8FAFC"/>
                </a:solidFill>
                <a:latin typeface="Urbanist"/>
              </a:rPr>
              <a:t>Nicemleme</a:t>
            </a:r>
            <a:r>
              <a:rPr sz="1500" b="1" i="0" u="none" dirty="0">
                <a:solidFill>
                  <a:srgbClr val="F8FAFC"/>
                </a:solidFill>
                <a:latin typeface="Urbanist"/>
              </a:rPr>
              <a:t> (Quantization):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Ağırlıkları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FP16'dan 8-bit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veya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4-bit'e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indirgeyerek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(AWQ/GPTQ)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bellek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(VRAM)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kullanımını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ve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sunucu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ihtiyacını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azaltma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398" y="5114884"/>
            <a:ext cx="42195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 err="1">
                <a:solidFill>
                  <a:srgbClr val="F8FAFC"/>
                </a:solidFill>
                <a:latin typeface="Urbanist"/>
              </a:rPr>
              <a:t>Spesifik</a:t>
            </a:r>
            <a:r>
              <a:rPr sz="1500" b="1" i="0" u="none" dirty="0">
                <a:solidFill>
                  <a:srgbClr val="F8FAFC"/>
                </a:solidFill>
                <a:latin typeface="Urbanist"/>
              </a:rPr>
              <a:t> </a:t>
            </a:r>
            <a:r>
              <a:rPr sz="1500" b="1" i="0" u="none" dirty="0" err="1">
                <a:solidFill>
                  <a:srgbClr val="F8FAFC"/>
                </a:solidFill>
                <a:latin typeface="Urbanist"/>
              </a:rPr>
              <a:t>Modeller</a:t>
            </a:r>
            <a:r>
              <a:rPr sz="1500" b="1" i="0" u="none" dirty="0">
                <a:solidFill>
                  <a:srgbClr val="F8FAFC"/>
                </a:solidFill>
                <a:latin typeface="Urbanist"/>
              </a:rPr>
              <a:t>: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Her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iş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için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devasa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modeller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yerine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,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belirli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görevler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için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"Fine-tune"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edilmiş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daha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küçük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modeller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(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örn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. 8B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parametreli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) </a:t>
            </a:r>
            <a:r>
              <a:rPr sz="1500" b="0" i="0" u="none" dirty="0" err="1">
                <a:solidFill>
                  <a:srgbClr val="CBD5E1"/>
                </a:solidFill>
                <a:latin typeface="Urbanist"/>
              </a:rPr>
              <a:t>kullanma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128587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 err="1">
                <a:solidFill>
                  <a:srgbClr val="F8FAFC"/>
                </a:solidFill>
                <a:latin typeface="Urbanist"/>
              </a:rPr>
              <a:t>Günde</a:t>
            </a:r>
            <a:r>
              <a:rPr sz="3600" b="1" i="0" u="none" dirty="0">
                <a:solidFill>
                  <a:srgbClr val="F8FAFC"/>
                </a:solidFill>
                <a:latin typeface="Urbanist"/>
              </a:rPr>
              <a:t> 1 </a:t>
            </a:r>
            <a:r>
              <a:rPr sz="3600" b="1" i="0" u="none" dirty="0" err="1">
                <a:solidFill>
                  <a:srgbClr val="F8FAFC"/>
                </a:solidFill>
                <a:latin typeface="Urbanist"/>
              </a:rPr>
              <a:t>Milyon</a:t>
            </a:r>
            <a:r>
              <a:rPr sz="3600" b="1" i="0" u="none" dirty="0">
                <a:solidFill>
                  <a:srgbClr val="F8FAFC"/>
                </a:solidFill>
                <a:latin typeface="Urbanist"/>
              </a:rPr>
              <a:t> </a:t>
            </a:r>
            <a:r>
              <a:rPr sz="3600" b="1" i="0" u="none" dirty="0" err="1">
                <a:solidFill>
                  <a:srgbClr val="F8FAFC"/>
                </a:solidFill>
                <a:latin typeface="Urbanist"/>
              </a:rPr>
              <a:t>İstek</a:t>
            </a:r>
            <a:r>
              <a:rPr sz="3600" b="1" i="0" u="none" dirty="0">
                <a:solidFill>
                  <a:srgbClr val="F8FAFC"/>
                </a:solidFill>
                <a:latin typeface="Urbanist"/>
              </a:rPr>
              <a:t> </a:t>
            </a:r>
            <a:r>
              <a:rPr sz="3600" b="1" i="0" u="none" dirty="0" err="1">
                <a:solidFill>
                  <a:srgbClr val="F8FAFC"/>
                </a:solidFill>
                <a:latin typeface="Urbanist"/>
              </a:rPr>
              <a:t>Senaryosu</a:t>
            </a:r>
            <a:endParaRPr sz="3600" b="1" i="0" u="none" dirty="0">
              <a:solidFill>
                <a:srgbClr val="F8FAFC"/>
              </a:solidFill>
              <a:latin typeface="Urbanist"/>
            </a:endParaRP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025" y="2862262"/>
            <a:ext cx="9525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025" y="3662362"/>
            <a:ext cx="9525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025" y="4767262"/>
            <a:ext cx="9525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4650" y="2862262"/>
            <a:ext cx="9525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7266" y="4014916"/>
            <a:ext cx="95250" cy="2000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54891" y="5176837"/>
            <a:ext cx="95250" cy="200025"/>
          </a:xfrm>
          <a:prstGeom prst="rect">
            <a:avLst/>
          </a:prstGeom>
        </p:spPr>
      </p:pic>
      <p:pic>
        <p:nvPicPr>
          <p:cNvPr id="27" name="Resim 26">
            <a:extLst>
              <a:ext uri="{FF2B5EF4-FFF2-40B4-BE49-F238E27FC236}">
                <a16:creationId xmlns:a16="http://schemas.microsoft.com/office/drawing/2014/main" id="{9BA2DA32-1755-3D12-FF37-87A50626A6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79135" y="1"/>
            <a:ext cx="412864" cy="4128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5450" y="2093565"/>
            <a:ext cx="8801100" cy="285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sz="3000" b="0" i="0" u="none">
                <a:solidFill>
                  <a:srgbClr val="F8FAFC"/>
                </a:solidFill>
                <a:latin typeface="Urbanist SemiBold"/>
              </a:rPr>
              <a:t>Word2vec kelimelere matematiksel bir uzay kazandırdı, Transformer bu kelimelerin cümle içindeki karmaşık bağlamını çözdü ve ChatGPT tüm bu ağı akıcı, insan benzeri bir diyaloğa dönüştürdü.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" y="2474565"/>
            <a:ext cx="371475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10500" b="0" i="0" u="none">
                <a:solidFill>
                  <a:srgbClr val="B300FF"/>
                </a:solidFill>
                <a:latin typeface="Urbanist SemiBold"/>
              </a:rP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7075" y="5141565"/>
            <a:ext cx="371475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10500" b="0" i="0" u="none">
                <a:solidFill>
                  <a:srgbClr val="B300FF"/>
                </a:solidFill>
                <a:latin typeface="Urbanist SemiBold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Urbanist"/>
              </a:rPr>
              <a:t>Evrimsel Bağlantı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4D438783-C436-EDBD-51AF-4B63488AB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9135" y="1"/>
            <a:ext cx="412864" cy="4128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42053" y="5589916"/>
            <a:ext cx="4054416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tr-TR" sz="2500" b="1" dirty="0">
                <a:solidFill>
                  <a:srgbClr val="00E5FF"/>
                </a:solidFill>
                <a:latin typeface="Urbanist"/>
              </a:rPr>
              <a:t>Ahmet AYDUĞAN</a:t>
            </a:r>
            <a:br>
              <a:rPr lang="tr-TR" sz="2500" b="1" dirty="0">
                <a:solidFill>
                  <a:srgbClr val="00E5FF"/>
                </a:solidFill>
                <a:latin typeface="Urbanist"/>
              </a:rPr>
            </a:br>
            <a:r>
              <a:rPr lang="tr-TR" sz="2500" b="1" dirty="0" err="1">
                <a:solidFill>
                  <a:srgbClr val="00E5FF"/>
                </a:solidFill>
                <a:latin typeface="Urbanist"/>
              </a:rPr>
              <a:t>Monitoring</a:t>
            </a:r>
            <a:r>
              <a:rPr lang="tr-TR" sz="2500" b="1" dirty="0">
                <a:solidFill>
                  <a:srgbClr val="00E5FF"/>
                </a:solidFill>
                <a:latin typeface="Urbanist"/>
              </a:rPr>
              <a:t> &amp; </a:t>
            </a:r>
            <a:r>
              <a:rPr lang="tr-TR" sz="2500" b="1" dirty="0" err="1">
                <a:solidFill>
                  <a:srgbClr val="00E5FF"/>
                </a:solidFill>
                <a:latin typeface="Urbanist"/>
              </a:rPr>
              <a:t>DevOps</a:t>
            </a:r>
            <a:endParaRPr sz="2500" b="1" i="0" u="none" dirty="0">
              <a:solidFill>
                <a:srgbClr val="00E5FF"/>
              </a:solidFill>
              <a:latin typeface="Urbanis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3120330"/>
            <a:ext cx="11049000" cy="479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4500" b="0" i="0" u="none" dirty="0" err="1">
                <a:solidFill>
                  <a:srgbClr val="CBD5E1"/>
                </a:solidFill>
                <a:latin typeface="Urbanist"/>
              </a:rPr>
              <a:t>Dinlediğiniz</a:t>
            </a:r>
            <a:r>
              <a:rPr sz="4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lang="tr-TR" sz="4500" b="0" i="0" u="none" dirty="0">
                <a:solidFill>
                  <a:srgbClr val="CBD5E1"/>
                </a:solidFill>
                <a:latin typeface="Urbanist"/>
              </a:rPr>
              <a:t>İ</a:t>
            </a:r>
            <a:r>
              <a:rPr sz="4500" b="0" i="0" u="none" dirty="0" err="1">
                <a:solidFill>
                  <a:srgbClr val="CBD5E1"/>
                </a:solidFill>
                <a:latin typeface="Urbanist"/>
              </a:rPr>
              <a:t>çin</a:t>
            </a:r>
            <a:r>
              <a:rPr sz="4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lang="tr-TR" sz="4500" dirty="0">
                <a:solidFill>
                  <a:srgbClr val="CBD5E1"/>
                </a:solidFill>
                <a:latin typeface="Urbanist"/>
              </a:rPr>
              <a:t>T</a:t>
            </a:r>
            <a:r>
              <a:rPr sz="4500" b="0" i="0" u="none" dirty="0" err="1">
                <a:solidFill>
                  <a:srgbClr val="CBD5E1"/>
                </a:solidFill>
                <a:latin typeface="Urbanist"/>
              </a:rPr>
              <a:t>eşekkürler</a:t>
            </a:r>
            <a:r>
              <a:rPr sz="4500" b="0" i="0" u="none" dirty="0">
                <a:solidFill>
                  <a:srgbClr val="CBD5E1"/>
                </a:solidFill>
                <a:latin typeface="Urbanist"/>
              </a:rPr>
              <a:t>.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4B264392-BFAC-0FCE-5840-EE21473D5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9135" y="1"/>
            <a:ext cx="412864" cy="4128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444</Words>
  <Application>Microsoft Office PowerPoint</Application>
  <PresentationFormat>Geniş ekran</PresentationFormat>
  <Paragraphs>34</Paragraphs>
  <Slides>9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Urbanist</vt:lpstr>
      <vt:lpstr>Urbanist SemiBold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Ahmet AYDUĞAN</cp:lastModifiedBy>
  <cp:revision>4</cp:revision>
  <dcterms:created xsi:type="dcterms:W3CDTF">2013-01-27T09:14:16Z</dcterms:created>
  <dcterms:modified xsi:type="dcterms:W3CDTF">2026-07-31T12:19:05Z</dcterms:modified>
  <cp:category/>
</cp:coreProperties>
</file>